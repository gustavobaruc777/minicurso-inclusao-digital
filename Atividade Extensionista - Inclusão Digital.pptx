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0" d="100"/>
          <a:sy n="50" d="100"/>
        </p:scale>
        <p:origin x="348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298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(Slide 1 — ~1 min)
</a:t>
            </a:r>
            <a:r>
              <a:rPr lang="en-US" dirty="0" err="1" smtClean="0"/>
              <a:t>Cumprimentar</a:t>
            </a:r>
            <a:r>
              <a:rPr lang="en-US" dirty="0" smtClean="0"/>
              <a:t> </a:t>
            </a:r>
            <a:r>
              <a:rPr lang="en-US" dirty="0"/>
              <a:t>o grupo, </a:t>
            </a:r>
            <a:r>
              <a:rPr lang="en-US" dirty="0" err="1" smtClean="0"/>
              <a:t>agradecer</a:t>
            </a:r>
            <a:r>
              <a:rPr lang="en-US" dirty="0" smtClean="0"/>
              <a:t> </a:t>
            </a:r>
            <a:r>
              <a:rPr lang="en-US" dirty="0"/>
              <a:t>a presença e </a:t>
            </a:r>
            <a:r>
              <a:rPr lang="en-US" dirty="0" err="1" smtClean="0"/>
              <a:t>apresentar</a:t>
            </a:r>
            <a:r>
              <a:rPr lang="en-US" dirty="0" smtClean="0"/>
              <a:t>-se </a:t>
            </a:r>
            <a:r>
              <a:rPr lang="en-US" dirty="0"/>
              <a:t>rapidamente: seu nome, o curso e por que está fazendo essa oficina como atividade de extensão. </a:t>
            </a:r>
            <a:r>
              <a:rPr lang="en-US" dirty="0" err="1" smtClean="0"/>
              <a:t>Dizer</a:t>
            </a:r>
            <a:r>
              <a:rPr lang="en-US" dirty="0" smtClean="0"/>
              <a:t> </a:t>
            </a:r>
            <a:r>
              <a:rPr lang="en-US" dirty="0"/>
              <a:t>o nome da oficina e </a:t>
            </a:r>
            <a:r>
              <a:rPr lang="en-US" dirty="0" err="1" smtClean="0"/>
              <a:t>reforçar</a:t>
            </a:r>
            <a:r>
              <a:rPr lang="en-US" dirty="0" smtClean="0"/>
              <a:t> </a:t>
            </a:r>
            <a:r>
              <a:rPr lang="en-US" dirty="0"/>
              <a:t>que é um espaço tranquilo para aprender no próprio ritmo.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~2 min
</a:t>
            </a:r>
            <a:r>
              <a:rPr lang="en-US" dirty="0" err="1" smtClean="0"/>
              <a:t>Explicar</a:t>
            </a:r>
            <a:r>
              <a:rPr lang="en-US" dirty="0" smtClean="0"/>
              <a:t> </a:t>
            </a:r>
            <a:r>
              <a:rPr lang="en-US" dirty="0"/>
              <a:t>o que é uma "atividade extensionista": um projeto da faculdade que leva conhecimento para fora da sala de aula, para a comunidade. </a:t>
            </a:r>
            <a:r>
              <a:rPr lang="en-US" dirty="0" err="1" smtClean="0"/>
              <a:t>Lembrar</a:t>
            </a:r>
            <a:r>
              <a:rPr lang="en-US" dirty="0" smtClean="0"/>
              <a:t> </a:t>
            </a:r>
            <a:r>
              <a:rPr lang="en-US" dirty="0"/>
              <a:t>que o foco de hoje é 100% prático. </a:t>
            </a:r>
            <a:r>
              <a:rPr lang="en-US" dirty="0" err="1" smtClean="0"/>
              <a:t>Deixar</a:t>
            </a:r>
            <a:r>
              <a:rPr lang="en-US" dirty="0" smtClean="0"/>
              <a:t> </a:t>
            </a:r>
            <a:r>
              <a:rPr lang="en-US" dirty="0"/>
              <a:t>claro que perguntas são bem-vindas a qualquer momento — não precisa esperar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~2 min
</a:t>
            </a:r>
            <a:r>
              <a:rPr lang="en-US" dirty="0" err="1" smtClean="0"/>
              <a:t>Apresentar</a:t>
            </a:r>
            <a:r>
              <a:rPr lang="en-US" dirty="0" smtClean="0"/>
              <a:t> </a:t>
            </a:r>
            <a:r>
              <a:rPr lang="en-US" dirty="0"/>
              <a:t>os 5 temas do dia como um "mapa" da oficina, sem entrar em detalhes ainda. </a:t>
            </a:r>
            <a:r>
              <a:rPr lang="en-US" dirty="0" err="1" smtClean="0"/>
              <a:t>Perguntar</a:t>
            </a:r>
            <a:r>
              <a:rPr lang="en-US" dirty="0" smtClean="0"/>
              <a:t> </a:t>
            </a:r>
            <a:r>
              <a:rPr lang="en-US" dirty="0"/>
              <a:t>rapidamente quem já usa e-mail, Google Drive etc., para calibrar o ritmo da explicação (se muitos já souberem algo, pode acelerar naquele bloco).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~2 min
</a:t>
            </a:r>
            <a:r>
              <a:rPr lang="en-US" dirty="0" err="1" smtClean="0"/>
              <a:t>Contextualizar</a:t>
            </a:r>
            <a:r>
              <a:rPr lang="en-US" dirty="0" smtClean="0"/>
              <a:t> </a:t>
            </a:r>
            <a:r>
              <a:rPr lang="en-US" dirty="0"/>
              <a:t>por que o e-mail é importante antes de partir para a prática: é a "porta de entrada" para quase tudo digital hoje (bancos, vagas, matrícula). </a:t>
            </a:r>
            <a:r>
              <a:rPr lang="en-US" dirty="0" err="1" smtClean="0"/>
              <a:t>Perguntar</a:t>
            </a:r>
            <a:r>
              <a:rPr lang="en-US" dirty="0" smtClean="0"/>
              <a:t> </a:t>
            </a:r>
            <a:r>
              <a:rPr lang="en-US" dirty="0"/>
              <a:t>se alguém tem dúvida sobre o que é um e-mail antes de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~8-10 min (parte prática)
Este é o primeiro bloco "mão na massa". Se possível, </a:t>
            </a:r>
            <a:r>
              <a:rPr lang="en-US" dirty="0" err="1" smtClean="0"/>
              <a:t>pedir</a:t>
            </a:r>
            <a:r>
              <a:rPr lang="en-US" dirty="0" smtClean="0"/>
              <a:t> </a:t>
            </a:r>
            <a:r>
              <a:rPr lang="en-US" dirty="0"/>
              <a:t>para todos abrirem o navegador. Vá passo a passo: (1) mostrar como acessar gmail.com e clicar em criar conta; (2) mostrar a tela da caixa de entrada, explicando "recebidos", "enviados" e "lixeira"; (3) demonstrar como escrever e enviar um e-mail simples (pode pedir que enviem um e-mail de teste para você); (4) mostrar rapidamente marcadores/pastas e a barra de busca. </a:t>
            </a:r>
            <a:r>
              <a:rPr lang="en-US" dirty="0" err="1" smtClean="0"/>
              <a:t>Andar</a:t>
            </a:r>
            <a:r>
              <a:rPr lang="en-US" dirty="0" smtClean="0"/>
              <a:t> </a:t>
            </a:r>
            <a:r>
              <a:rPr lang="en-US" dirty="0"/>
              <a:t>pela sala ajudando quem tiver dificuldade.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~6-8 min (parte prática)
</a:t>
            </a:r>
            <a:r>
              <a:rPr lang="en-US" dirty="0" err="1" smtClean="0"/>
              <a:t>Explicar</a:t>
            </a:r>
            <a:r>
              <a:rPr lang="en-US" dirty="0" smtClean="0"/>
              <a:t> </a:t>
            </a:r>
            <a:r>
              <a:rPr lang="en-US" dirty="0"/>
              <a:t>o que é um PDF em termos simples: um formato de arquivo que mantém a formatação em qualquer computador. </a:t>
            </a:r>
            <a:r>
              <a:rPr lang="en-US" dirty="0" err="1" smtClean="0"/>
              <a:t>Demonstrar</a:t>
            </a:r>
            <a:r>
              <a:rPr lang="en-US" dirty="0" smtClean="0"/>
              <a:t>: </a:t>
            </a:r>
            <a:r>
              <a:rPr lang="en-US" dirty="0"/>
              <a:t>abrir um PDF no Chrome (arrastar o arquivo para o navegador ou clicar com o botão direito &gt; abrir com), abrir o mesmo tipo de arquivo no Adobe Acrobat Reader, e mostrar como anexar um PDF em um e-mail.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~8-10 min (parte prática)
</a:t>
            </a:r>
            <a:r>
              <a:rPr lang="en-US" dirty="0" err="1" smtClean="0"/>
              <a:t>Explicar</a:t>
            </a:r>
            <a:r>
              <a:rPr lang="en-US" dirty="0" smtClean="0"/>
              <a:t> </a:t>
            </a:r>
            <a:r>
              <a:rPr lang="en-US" dirty="0"/>
              <a:t>a ideia de "nuvem" com uma analogia simples: um armário guardado na internet, que você acessa de qualquer lugar. Demonstre: acessar drive.google.com, criar uma pasta, fazer upload de um arquivo. </a:t>
            </a:r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 smtClean="0"/>
              <a:t>abrir</a:t>
            </a:r>
            <a:r>
              <a:rPr lang="en-US" dirty="0" smtClean="0"/>
              <a:t> </a:t>
            </a:r>
            <a:r>
              <a:rPr lang="en-US" dirty="0"/>
              <a:t>o Google Docs, </a:t>
            </a:r>
            <a:r>
              <a:rPr lang="en-US" dirty="0" err="1" smtClean="0"/>
              <a:t>mostrar</a:t>
            </a:r>
            <a:r>
              <a:rPr lang="en-US" dirty="0" smtClean="0"/>
              <a:t> </a:t>
            </a:r>
            <a:r>
              <a:rPr lang="en-US" dirty="0"/>
              <a:t>a tela de edição, </a:t>
            </a:r>
            <a:r>
              <a:rPr lang="en-US" dirty="0" err="1" smtClean="0"/>
              <a:t>digitar</a:t>
            </a:r>
            <a:r>
              <a:rPr lang="en-US" dirty="0" smtClean="0"/>
              <a:t> </a:t>
            </a:r>
            <a:r>
              <a:rPr lang="en-US" dirty="0"/>
              <a:t>um texto simples e </a:t>
            </a:r>
            <a:r>
              <a:rPr lang="en-US" dirty="0" err="1" smtClean="0"/>
              <a:t>mostrar</a:t>
            </a:r>
            <a:r>
              <a:rPr lang="en-US" dirty="0" smtClean="0"/>
              <a:t> </a:t>
            </a:r>
            <a:r>
              <a:rPr lang="en-US" dirty="0"/>
              <a:t>que ele salva sozinho (aponte o "Salvando..." no topo). Se der tempo, </a:t>
            </a:r>
            <a:r>
              <a:rPr lang="en-US" dirty="0" err="1" smtClean="0"/>
              <a:t>mostrar</a:t>
            </a:r>
            <a:r>
              <a:rPr lang="en-US" dirty="0" smtClean="0"/>
              <a:t> </a:t>
            </a:r>
            <a:r>
              <a:rPr lang="en-US" dirty="0"/>
              <a:t>como compartilhar um documento com outra pessoa.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~6-8 min (parte prática)
No computador, </a:t>
            </a:r>
            <a:r>
              <a:rPr lang="en-US" dirty="0" err="1" smtClean="0"/>
              <a:t>mostrar</a:t>
            </a:r>
            <a:r>
              <a:rPr lang="en-US" dirty="0" smtClean="0"/>
              <a:t> </a:t>
            </a:r>
            <a:r>
              <a:rPr lang="en-US" dirty="0"/>
              <a:t>o Explorador de Arquivos do Windows. </a:t>
            </a:r>
            <a:r>
              <a:rPr lang="en-US" dirty="0" err="1" smtClean="0"/>
              <a:t>Criar</a:t>
            </a:r>
            <a:r>
              <a:rPr lang="en-US" dirty="0" smtClean="0"/>
              <a:t> </a:t>
            </a:r>
            <a:r>
              <a:rPr lang="en-US" dirty="0"/>
              <a:t>uma pasta nova junto com a turma, </a:t>
            </a:r>
            <a:r>
              <a:rPr lang="en-US" dirty="0" err="1" smtClean="0"/>
              <a:t>renomear</a:t>
            </a:r>
            <a:r>
              <a:rPr lang="en-US" dirty="0" smtClean="0"/>
              <a:t> </a:t>
            </a:r>
            <a:r>
              <a:rPr lang="en-US" dirty="0"/>
              <a:t>um arquivo de exemplo, </a:t>
            </a:r>
            <a:r>
              <a:rPr lang="en-US" dirty="0" err="1" smtClean="0"/>
              <a:t>arrastar</a:t>
            </a:r>
            <a:r>
              <a:rPr lang="en-US" dirty="0" smtClean="0"/>
              <a:t> </a:t>
            </a:r>
            <a:r>
              <a:rPr lang="en-US" dirty="0"/>
              <a:t>um arquivo para dentro da pasta, e </a:t>
            </a:r>
            <a:r>
              <a:rPr lang="en-US" dirty="0" err="1" smtClean="0"/>
              <a:t>usar</a:t>
            </a:r>
            <a:r>
              <a:rPr lang="en-US" dirty="0" smtClean="0"/>
              <a:t> </a:t>
            </a:r>
            <a:r>
              <a:rPr lang="en-US" dirty="0"/>
              <a:t>a barra de pesquisa para encontrar um arquivo pelo nome. </a:t>
            </a:r>
            <a:r>
              <a:rPr lang="en-US" dirty="0" err="1" smtClean="0"/>
              <a:t>Reforçar</a:t>
            </a:r>
            <a:r>
              <a:rPr lang="en-US" dirty="0" smtClean="0"/>
              <a:t> </a:t>
            </a:r>
            <a:r>
              <a:rPr lang="en-US" dirty="0"/>
              <a:t>a ideia de nomear arquivos de forma clara (ex.: em vez de "documento1", usar "Currículo_2026").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~5-6 min (parte prática)
</a:t>
            </a:r>
            <a:r>
              <a:rPr lang="en-US" dirty="0" err="1" smtClean="0"/>
              <a:t>Explicar</a:t>
            </a:r>
            <a:r>
              <a:rPr lang="en-US" dirty="0" smtClean="0"/>
              <a:t> </a:t>
            </a:r>
            <a:r>
              <a:rPr lang="en-US" dirty="0"/>
              <a:t>quando as pessoas costumam encontrar formulários on-line no dia a dia (inscrições, provas, pesquisas). Se possível, </a:t>
            </a:r>
            <a:r>
              <a:rPr lang="en-US" dirty="0" err="1" smtClean="0"/>
              <a:t>apresentar</a:t>
            </a:r>
            <a:r>
              <a:rPr lang="en-US" dirty="0" smtClean="0"/>
              <a:t> </a:t>
            </a:r>
            <a:r>
              <a:rPr lang="en-US" dirty="0"/>
              <a:t>um formulário de exemplo pronto para todos preencherem juntos, seguindo os 5 passos da tela. </a:t>
            </a:r>
            <a:r>
              <a:rPr lang="en-US" dirty="0" err="1" smtClean="0"/>
              <a:t>Aproveitar</a:t>
            </a:r>
            <a:r>
              <a:rPr lang="en-US" dirty="0" smtClean="0"/>
              <a:t> </a:t>
            </a:r>
            <a:r>
              <a:rPr lang="en-US" dirty="0"/>
              <a:t>para já avisar que, ao final da oficina, vai pedir que preencham o formulário de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~3 min
Momento de reforçar o "porquê" de tudo isso, conectando as ferramentas às vantagens reais: autonomia, oportunidades e comunicação. Pode pedir 1 ou 2 exemplos da própria vida da turma onde isso ajudaria.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~10-15 min (atividade guiada)
</a:t>
            </a:r>
            <a:r>
              <a:rPr lang="en-US" dirty="0" err="1" smtClean="0"/>
              <a:t>Deixar</a:t>
            </a:r>
            <a:r>
              <a:rPr lang="en-US" dirty="0" smtClean="0"/>
              <a:t> </a:t>
            </a:r>
            <a:r>
              <a:rPr lang="en-US" dirty="0"/>
              <a:t>a turma realizar as 5 tarefas listadas, no próprio ritmo, enquanto você circula ajudando individualmente. Não precisa que todos terminem tudo — o objetivo é praticar o que foi mostrado. </a:t>
            </a:r>
            <a:r>
              <a:rPr lang="en-US" dirty="0" err="1" smtClean="0"/>
              <a:t>Avisar</a:t>
            </a:r>
            <a:r>
              <a:rPr lang="en-US" dirty="0" smtClean="0"/>
              <a:t> </a:t>
            </a:r>
            <a:r>
              <a:rPr lang="en-US" dirty="0"/>
              <a:t>quanto tempo terão para essa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~2 min
Encerramento do conteúdo com dicas gerais de aprendizado autônomo. </a:t>
            </a:r>
            <a:r>
              <a:rPr lang="en-US" dirty="0" err="1" smtClean="0"/>
              <a:t>Reforçar</a:t>
            </a:r>
            <a:r>
              <a:rPr lang="en-US" dirty="0" smtClean="0"/>
              <a:t> </a:t>
            </a:r>
            <a:r>
              <a:rPr lang="en-US" dirty="0"/>
              <a:t>que errar faz parte do processo e que a prática regular é o que realmente fixa o conhecimento.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~2 min
</a:t>
            </a:r>
            <a:r>
              <a:rPr lang="en-US" dirty="0" err="1" smtClean="0"/>
              <a:t>Agradecer</a:t>
            </a:r>
            <a:r>
              <a:rPr lang="en-US" dirty="0" smtClean="0"/>
              <a:t> </a:t>
            </a:r>
            <a:r>
              <a:rPr lang="en-US" dirty="0"/>
              <a:t>a participação, </a:t>
            </a:r>
            <a:r>
              <a:rPr lang="en-US" dirty="0" err="1" smtClean="0"/>
              <a:t>relembrar</a:t>
            </a:r>
            <a:r>
              <a:rPr lang="en-US" dirty="0" smtClean="0"/>
              <a:t> </a:t>
            </a:r>
            <a:r>
              <a:rPr lang="en-US" dirty="0" err="1"/>
              <a:t>m</a:t>
            </a:r>
            <a:r>
              <a:rPr lang="en-US" dirty="0" err="1" smtClean="0"/>
              <a:t>eu</a:t>
            </a:r>
            <a:r>
              <a:rPr lang="en-US" dirty="0" smtClean="0"/>
              <a:t> </a:t>
            </a:r>
            <a:r>
              <a:rPr lang="en-US" dirty="0"/>
              <a:t>nome e o projeto, e </a:t>
            </a:r>
            <a:r>
              <a:rPr lang="en-US" dirty="0" err="1" smtClean="0"/>
              <a:t>pedir</a:t>
            </a:r>
            <a:r>
              <a:rPr lang="en-US" dirty="0" smtClean="0"/>
              <a:t> </a:t>
            </a:r>
            <a:r>
              <a:rPr lang="en-US" dirty="0"/>
              <a:t>para preencherem o formulário de avaliação (Google Forms) antes de </a:t>
            </a:r>
            <a:r>
              <a:rPr lang="en-US" dirty="0" err="1" smtClean="0"/>
              <a:t>sair</a:t>
            </a:r>
            <a:r>
              <a:rPr lang="en-US" dirty="0" smtClean="0"/>
              <a:t>. </a:t>
            </a:r>
            <a:r>
              <a:rPr lang="en-US" dirty="0" err="1" smtClean="0"/>
              <a:t>Abrir</a:t>
            </a:r>
            <a:r>
              <a:rPr lang="en-US" dirty="0" smtClean="0"/>
              <a:t> </a:t>
            </a:r>
            <a:r>
              <a:rPr lang="en-US" dirty="0"/>
              <a:t>espaço para perguntas finais.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743200" cy="27432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EXTENSIONISTA  •  </a:t>
            </a:r>
            <a:r>
              <a:rPr lang="en-US" sz="1300" b="1" kern="0" spc="200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DESENVOLVIMENTO DE SISTEMAS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Inclusão Digital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tecnológicas para o dia a dia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23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Baruc Rodrigues </a:t>
            </a:r>
            <a:r>
              <a:rPr lang="en-US" sz="1400" b="1" dirty="0" smtClean="0">
                <a:solidFill>
                  <a:srgbClr val="B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Machado – RU 5558961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Superior de Tecnologia em Análise e Desenvolvimento de Sistemas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Capelinha / MG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Bem-vindos!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esta oficina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6035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um projeto de extensão universitária que leva tecnologia até a nossa comunidade.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é simples: mostrar, na prática, ferramentas digitais que ajudam no dia a dia — para estudar, trabalhar e se comunicar melhor.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pressa, sem termos difíceis. Se tiver dúvida, pode perguntar a qualquer momento!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40880" y="1691640"/>
            <a:ext cx="4480560" cy="3566160"/>
          </a:xfrm>
          <a:prstGeom prst="roundRect">
            <a:avLst>
              <a:gd name="adj" fmla="val 3077"/>
            </a:avLst>
          </a:prstGeom>
          <a:solidFill>
            <a:srgbClr val="F3FAF9"/>
          </a:solidFill>
          <a:ln/>
        </p:spPr>
      </p:sp>
      <p:sp>
        <p:nvSpPr>
          <p:cNvPr id="6" name="Shape 4"/>
          <p:cNvSpPr/>
          <p:nvPr/>
        </p:nvSpPr>
        <p:spPr>
          <a:xfrm>
            <a:off x="7360920" y="1965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1" y="21323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138160" y="2011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é este curso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27889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 e adultos interessados em desenvolver competências digitais básicas para o dia a dia acadêmico e profissional.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360920" y="4251960"/>
            <a:ext cx="3840480" cy="0"/>
          </a:xfrm>
          <a:prstGeom prst="line">
            <a:avLst/>
          </a:prstGeom>
          <a:noFill/>
          <a:ln w="12700">
            <a:solidFill>
              <a:srgbClr val="D6EA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6092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Capelinha / MG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 hoje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ferramentas do dia a dia digital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38528" cy="3291840"/>
          </a:xfrm>
          <a:prstGeom prst="roundRect">
            <a:avLst>
              <a:gd name="adj" fmla="val 4717"/>
            </a:avLst>
          </a:prstGeom>
          <a:solidFill>
            <a:srgbClr val="F3FAF9"/>
          </a:solidFill>
          <a:ln w="12700">
            <a:solidFill>
              <a:srgbClr val="E2F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23317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779" y="25219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4612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840480"/>
            <a:ext cx="16642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 usar o Gmail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98648" y="1965960"/>
            <a:ext cx="1938528" cy="329184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2F0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02152" y="23317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ons/p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347" y="25219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08376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035808" y="324612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3035808" y="3840480"/>
            <a:ext cx="16642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Ver, organizar e compartilhar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157216" y="1965960"/>
            <a:ext cx="1938528" cy="3291840"/>
          </a:xfrm>
          <a:prstGeom prst="roundRect">
            <a:avLst>
              <a:gd name="adj" fmla="val 4717"/>
            </a:avLst>
          </a:prstGeom>
          <a:solidFill>
            <a:srgbClr val="F3FAF9"/>
          </a:solidFill>
          <a:ln w="12700">
            <a:solidFill>
              <a:srgbClr val="E2F0E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0720" y="23317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icons/dr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0915" y="252191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66944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94376" y="324612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5294376" y="3840480"/>
            <a:ext cx="16642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 na nuvem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415784" y="1965960"/>
            <a:ext cx="1938528" cy="329184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E2F0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19288" y="23317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3" descr="icons/do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9483" y="252191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25512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52944" y="324612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550" dirty="0"/>
          </a:p>
        </p:txBody>
      </p:sp>
      <p:sp>
        <p:nvSpPr>
          <p:cNvPr id="27" name="Text 21"/>
          <p:cNvSpPr txBox="1"/>
          <p:nvPr/>
        </p:nvSpPr>
        <p:spPr>
          <a:xfrm>
            <a:off x="7552944" y="3840480"/>
            <a:ext cx="16642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documentos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674352" y="1965960"/>
            <a:ext cx="1938528" cy="3291840"/>
          </a:xfrm>
          <a:prstGeom prst="roundRect">
            <a:avLst>
              <a:gd name="adj" fmla="val 4717"/>
            </a:avLst>
          </a:prstGeom>
          <a:solidFill>
            <a:srgbClr val="F3FAF9"/>
          </a:solidFill>
          <a:ln w="12700">
            <a:solidFill>
              <a:srgbClr val="E2F0E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277856" y="23317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4" descr="icons/fol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8051" y="2521915"/>
            <a:ext cx="351130" cy="35113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84080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811512" y="324612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550" dirty="0"/>
          </a:p>
        </p:txBody>
      </p:sp>
      <p:sp>
        <p:nvSpPr>
          <p:cNvPr id="33" name="Text 26"/>
          <p:cNvSpPr txBox="1"/>
          <p:nvPr/>
        </p:nvSpPr>
        <p:spPr>
          <a:xfrm>
            <a:off x="9811512" y="3840480"/>
            <a:ext cx="16642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arquivos e pastas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640080" y="5577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Google Forms: formulários on-line, ao final da oficina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E-mail com o Gmail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icons/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5016398"/>
            <a:ext cx="482803" cy="482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9436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identidade para se comunicar no mundo digital.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640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aprender isso?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480560" y="13533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00600" y="128016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pré-requisito para quase todo serviço digital: bancos, vagas de emprego, matrículas e cursos on-line.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480560" y="23134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224028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comunicação profissional e acadêmica organizada, com histórico de conversas.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480560" y="32735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00600" y="32004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porta de entrada para outras ferramentas do Google que veremos hoje (Drive, Docs, Forms).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480560" y="4343400"/>
            <a:ext cx="6766560" cy="1783080"/>
          </a:xfrm>
          <a:prstGeom prst="roundRect">
            <a:avLst>
              <a:gd name="adj" fmla="val 5128"/>
            </a:avLst>
          </a:prstGeom>
          <a:solidFill>
            <a:srgbClr val="F3FAF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709160" y="45262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em uma frase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489204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serviço gratuito do Google para enviar e receber mensagens pela internet, acessível pelo computador ou celular.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e usando sua conta Gmail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praticar juntos, passo a passo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3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974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conta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46120"/>
            <a:ext cx="22768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gmail.com e clicar em "Criar conta", preenchendo nome, data de nascimento e senha.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3264408" y="3401568"/>
            <a:ext cx="118872" cy="146304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3FAF9"/>
          </a:solidFill>
          <a:ln/>
        </p:spPr>
      </p:sp>
      <p:sp>
        <p:nvSpPr>
          <p:cNvPr id="11" name="Shape 9"/>
          <p:cNvSpPr/>
          <p:nvPr/>
        </p:nvSpPr>
        <p:spPr>
          <a:xfrm>
            <a:off x="3547872" y="19933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4787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6974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a caixa de entrada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3246120"/>
            <a:ext cx="22768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onde ficam os e-mails recebidos, enviados e a lixeira.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007608" y="3401568"/>
            <a:ext cx="118872" cy="146304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3FA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91072" y="19933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9107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26974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e enviar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3246120"/>
            <a:ext cx="22768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botão "Escrever" para redigir um e-mail com assunto e destinatário.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750808" y="3401568"/>
            <a:ext cx="118872" cy="146304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22" name="Shape 20"/>
          <p:cNvSpPr/>
          <p:nvPr/>
        </p:nvSpPr>
        <p:spPr>
          <a:xfrm>
            <a:off x="886968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3FAF9"/>
          </a:solidFill>
          <a:ln/>
        </p:spPr>
      </p:sp>
      <p:sp>
        <p:nvSpPr>
          <p:cNvPr id="23" name="Shape 21"/>
          <p:cNvSpPr/>
          <p:nvPr/>
        </p:nvSpPr>
        <p:spPr>
          <a:xfrm>
            <a:off x="9034272" y="19933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3427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034272" y="26974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034272" y="3254746"/>
            <a:ext cx="22768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marcadores e a busca para manter a caixa de entrada arrumada.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Trabalhando com PDF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p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5016398"/>
            <a:ext cx="482803" cy="482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9436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universal para documentos.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640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faremos na prática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480560" y="128016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F3FAF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09160" y="138988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171907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arquivos PDF direto no navegador Google Chrome ou no Adobe Acrobat Reader.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80560" y="251460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F3FAF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709160" y="262432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295351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um PDF por e-mail ou por um link, sem perder a formatação original.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80560" y="374904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F3FAF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709160" y="385876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418795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Renomear, mover e juntar PDFs em pastas de forma simples.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3 · Google Drive e Google Docs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Guardando e editando documentos na nuvem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F3FA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dr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299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3464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espaço de armazenamento na internet — seus arquivos ficam salvos mesmo se o computador quebrar.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acessar de qualquer lugar, com computador ou celular.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é possível compartilhar pastas e arquivos com outras pessoas.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35040" y="169164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F3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19659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s/do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668" y="21442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20299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283464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editor de texto que funciona direto no navegador, sem precisar instalar nada.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automaticamente — nada de perder o trabalho por falta de energia.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várias pessoas editem o mesmo documento ao mesmo tempo.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Arquivos e pastas no Windows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5016398"/>
            <a:ext cx="482803" cy="482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9436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computador organizado é um computador mais rápido de usar.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640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organizar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480560" y="1353312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00600" y="128016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pastas — </a:t>
            </a: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arquivos por assunto: "Trabalho", "Estudos", "Documentos pessoais".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480560" y="2313432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22402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bem — </a:t>
            </a: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nomes claros aos arquivos para encontrá-los facilmente depois.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480560" y="3273552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00600" y="320040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e copiar — </a:t>
            </a: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Arrastar arquivos entre pastas, ou usar recortar/colar.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480560" y="4233672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800600" y="416052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rápido — </a:t>
            </a: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barra de pesquisa do Windows para achar qualquer arquivo em segundos.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5 · Google Forms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e serviços on-line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fo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" y="21378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aparece na vida real?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490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Inscrições em processos seletivos, provas on-line, pesquisas de satisfação, matrículas em cursos.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80560" y="1828800"/>
            <a:ext cx="6766560" cy="3657600"/>
          </a:xfrm>
          <a:prstGeom prst="roundRect">
            <a:avLst>
              <a:gd name="adj" fmla="val 3000"/>
            </a:avLst>
          </a:prstGeom>
          <a:solidFill>
            <a:srgbClr val="F3FA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754880" y="20574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preencher um formulário on-line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754880" y="26060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75488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257860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link recebido por e-mail ou mensagem.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754880" y="31089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5488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212080" y="308152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cada pergunta com calma antes de responder.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754880" y="36118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75488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212080" y="358444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os campos obrigatórios (marcados com *).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54880" y="411480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75488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408736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as respostas antes de clicar em "Enviar".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754880" y="46177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754880" y="4617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212080" y="459028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a confirmação, se houver.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habilidades, grande impacto no dia a dia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064B52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23317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155" y="25219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7947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sozinho tarefas que antes dependiam de outra pessoa.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064B52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0" y="23317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ons/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475" y="25219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7947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acesso a vagas de emprego, cursos e serviços públicos on-line.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20116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064B52"/>
          </a:solidFill>
          <a:ln/>
        </p:spPr>
      </p:sp>
      <p:sp>
        <p:nvSpPr>
          <p:cNvPr id="16" name="Shape 12"/>
          <p:cNvSpPr/>
          <p:nvPr/>
        </p:nvSpPr>
        <p:spPr>
          <a:xfrm>
            <a:off x="9372600" y="23317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icons/em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795" y="252191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7947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contato com família, escola e trabalho de forma organizada.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praticar!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em duplas ou individualmente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3840480"/>
          </a:xfrm>
          <a:prstGeom prst="roundRect">
            <a:avLst>
              <a:gd name="adj" fmla="val 2857"/>
            </a:avLst>
          </a:prstGeom>
          <a:solidFill>
            <a:srgbClr val="F3FA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(ou acessar) uma conta no Gmail e enviar um e-mail de teste para o instrutor.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25877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54203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um arquivo PDF no Google Drive, dentro de uma pasta criada por você.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14400" y="320954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16382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um Google Docs e escrever um parágrafo curto sobre o que aprendeu hoje.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383133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78561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3 arquivos em pastas no computador com nomes claros.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14400" y="445312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40740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o formulário de avaliação da oficina (Google Forms) ao final.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 para continuar praticando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3FAF9"/>
          </a:solidFill>
          <a:ln/>
        </p:spPr>
      </p:sp>
      <p:sp>
        <p:nvSpPr>
          <p:cNvPr id="4" name="Shape 2"/>
          <p:cNvSpPr/>
          <p:nvPr/>
        </p:nvSpPr>
        <p:spPr>
          <a:xfrm>
            <a:off x="1988820" y="20574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he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015" y="22475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tenha medo de errar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7033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os botões é a melhor forma de aprender. Nada quebra por curiosidade.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7373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3FAF9"/>
          </a:solidFill>
          <a:ln/>
        </p:spPr>
      </p:sp>
      <p:sp>
        <p:nvSpPr>
          <p:cNvPr id="9" name="Shape 6"/>
          <p:cNvSpPr/>
          <p:nvPr/>
        </p:nvSpPr>
        <p:spPr>
          <a:xfrm>
            <a:off x="5737860" y="20574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icons/compu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055" y="22475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 aos poucos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7033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por dia valem mais do que uma maratona só uma vez.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8160" y="17373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3FAF9"/>
          </a:solidFill>
          <a:ln/>
        </p:spPr>
      </p:sp>
      <p:sp>
        <p:nvSpPr>
          <p:cNvPr id="14" name="Shape 10"/>
          <p:cNvSpPr/>
          <p:nvPr/>
        </p:nvSpPr>
        <p:spPr>
          <a:xfrm>
            <a:off x="9486900" y="20574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icons/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095" y="224759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ajuda quando precisar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37033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Familiares, amigos e colegas de curso também podem ensinar.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200400" cy="32004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praticando — a tecnologia fica mais fácil a cada vez que você usa.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34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B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Baruc Rodrigues Machado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Extensionista II — Tecnologia Aplicada à Inclusão Digital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Capelinha / MG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1048</Words>
  <Application>Microsoft Office PowerPoint</Application>
  <PresentationFormat>Widescreen</PresentationFormat>
  <Paragraphs>167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Gustavo Baruc</cp:lastModifiedBy>
  <cp:revision>4</cp:revision>
  <dcterms:created xsi:type="dcterms:W3CDTF">2026-09-13T18:58:48Z</dcterms:created>
  <dcterms:modified xsi:type="dcterms:W3CDTF">2026-09-18T14:38:42Z</dcterms:modified>
</cp:coreProperties>
</file>